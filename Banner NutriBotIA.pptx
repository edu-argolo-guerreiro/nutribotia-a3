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A0B4-13E0-F08D-1B1D-291B902E44C2}" v="268" dt="2025-09-26T00:55:2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33" d="100"/>
          <a:sy n="33" d="100"/>
        </p:scale>
        <p:origin x="931" y="-5194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ILTON DE JESUS CERQUEIRA JUNIOR" userId="S::adailton.cerqueira@ulife.com.br::4fde272d-0841-4e9c-8bd1-5d76f6d1716c" providerId="AD" clId="Web-{04DFA0B4-13E0-F08D-1B1D-291B902E44C2}"/>
    <pc:docChg chg="modSld">
      <pc:chgData name="ADAILTON DE JESUS CERQUEIRA JUNIOR" userId="S::adailton.cerqueira@ulife.com.br::4fde272d-0841-4e9c-8bd1-5d76f6d1716c" providerId="AD" clId="Web-{04DFA0B4-13E0-F08D-1B1D-291B902E44C2}" dt="2025-09-26T00:55:24.553" v="243" actId="20577"/>
      <pc:docMkLst>
        <pc:docMk/>
      </pc:docMkLst>
      <pc:sldChg chg="addSp delSp modSp">
        <pc:chgData name="ADAILTON DE JESUS CERQUEIRA JUNIOR" userId="S::adailton.cerqueira@ulife.com.br::4fde272d-0841-4e9c-8bd1-5d76f6d1716c" providerId="AD" clId="Web-{04DFA0B4-13E0-F08D-1B1D-291B902E44C2}" dt="2025-09-26T00:55:24.553" v="243" actId="20577"/>
        <pc:sldMkLst>
          <pc:docMk/>
          <pc:sldMk cId="0" sldId="257"/>
        </pc:sldMkLst>
        <pc:spChg chg="mod">
          <ac:chgData name="ADAILTON DE JESUS CERQUEIRA JUNIOR" userId="S::adailton.cerqueira@ulife.com.br::4fde272d-0841-4e9c-8bd1-5d76f6d1716c" providerId="AD" clId="Web-{04DFA0B4-13E0-F08D-1B1D-291B902E44C2}" dt="2025-09-26T00:55:24.553" v="24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7:39.551" v="7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53:14.295" v="23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8:03.584" v="78" actId="20577"/>
          <ac:spMkLst>
            <pc:docMk/>
            <pc:sldMk cId="0" sldId="257"/>
            <ac:spMk id="17" creationId="{00000000-0000-0000-0000-000000000000}"/>
          </ac:spMkLst>
        </pc:spChg>
        <pc:graphicFrameChg chg="mod modGraphic">
          <ac:chgData name="ADAILTON DE JESUS CERQUEIRA JUNIOR" userId="S::adailton.cerqueira@ulife.com.br::4fde272d-0841-4e9c-8bd1-5d76f6d1716c" providerId="AD" clId="Web-{04DFA0B4-13E0-F08D-1B1D-291B902E44C2}" dt="2025-09-26T00:51:33.832" v="200" actId="1076"/>
          <ac:graphicFrameMkLst>
            <pc:docMk/>
            <pc:sldMk cId="0" sldId="257"/>
            <ac:graphicFrameMk id="8" creationId="{00000000-0000-0000-0000-000000000000}"/>
          </ac:graphicFrameMkLst>
        </pc:graphicFrameChg>
        <pc:graphicFrameChg chg="del">
          <ac:chgData name="ADAILTON DE JESUS CERQUEIRA JUNIOR" userId="S::adailton.cerqueira@ulife.com.br::4fde272d-0841-4e9c-8bd1-5d76f6d1716c" providerId="AD" clId="Web-{04DFA0B4-13E0-F08D-1B1D-291B902E44C2}" dt="2025-09-26T00:48:25.008" v="81"/>
          <ac:graphicFrameMkLst>
            <pc:docMk/>
            <pc:sldMk cId="0" sldId="257"/>
            <ac:graphicFrameMk id="10" creationId="{00000000-0000-0000-0000-000000000000}"/>
          </ac:graphicFrameMkLst>
        </pc:graphicFrameChg>
        <pc:picChg chg="add del mod">
          <ac:chgData name="ADAILTON DE JESUS CERQUEIRA JUNIOR" userId="S::adailton.cerqueira@ulife.com.br::4fde272d-0841-4e9c-8bd1-5d76f6d1716c" providerId="AD" clId="Web-{04DFA0B4-13E0-F08D-1B1D-291B902E44C2}" dt="2025-09-26T00:31:41.045" v="9"/>
          <ac:picMkLst>
            <pc:docMk/>
            <pc:sldMk cId="0" sldId="257"/>
            <ac:picMk id="6" creationId="{2F7AA305-31C1-24B8-58D8-4A041008685B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36.697" v="21" actId="1076"/>
          <ac:picMkLst>
            <pc:docMk/>
            <pc:sldMk cId="0" sldId="257"/>
            <ac:picMk id="7" creationId="{DE0425B4-4BBE-4119-F4E3-54908A697293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43.447" v="22" actId="1076"/>
          <ac:picMkLst>
            <pc:docMk/>
            <pc:sldMk cId="0" sldId="257"/>
            <ac:picMk id="11" creationId="{16012876-1C84-8DE5-9B13-5905E424B1C3}"/>
          </ac:picMkLst>
        </pc:picChg>
        <pc:picChg chg="del">
          <ac:chgData name="ADAILTON DE JESUS CERQUEIRA JUNIOR" userId="S::adailton.cerqueira@ulife.com.br::4fde272d-0841-4e9c-8bd1-5d76f6d1716c" providerId="AD" clId="Web-{04DFA0B4-13E0-F08D-1B1D-291B902E44C2}" dt="2025-09-26T00:28:06.861" v="0"/>
          <ac:picMkLst>
            <pc:docMk/>
            <pc:sldMk cId="0" sldId="257"/>
            <ac:picMk id="12" creationId="{00000000-0000-0000-0000-000000000000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53:20.404" v="233" actId="1076"/>
          <ac:picMkLst>
            <pc:docMk/>
            <pc:sldMk cId="0" sldId="257"/>
            <ac:picMk id="13" creationId="{22B7F8E9-EA4A-C4A3-891A-40C2F5F772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451021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2592588"/>
            <a:ext cx="30749932" cy="5790796"/>
          </a:xfrm>
        </p:spPr>
        <p:txBody>
          <a:bodyPr>
            <a:normAutofit/>
          </a:bodyPr>
          <a:lstStyle/>
          <a:p>
            <a:pPr hangingPunct="0"/>
            <a:r>
              <a:rPr lang="pt-BR" sz="5400" b="1" dirty="0"/>
              <a:t>NUTRIBOT IA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Edu Guerreiro; Eric Lelis; Guilherme Almeida; Laís Viana; Sinval Luz; Adailton Cerqueira.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7489132"/>
            <a:ext cx="14785564" cy="31107456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A criação de dietas personalizadas demanda tempo e análise cuidadosa, tornando o processo desafiador tanto para nutricionistas quanto para o público que busca orientação rápida e confiável. O </a:t>
            </a:r>
            <a:r>
              <a:rPr lang="pt-BR" sz="3200" dirty="0" err="1">
                <a:solidFill>
                  <a:schemeClr val="tx1"/>
                </a:solidFill>
              </a:rPr>
              <a:t>NutriBotIA</a:t>
            </a:r>
            <a:r>
              <a:rPr lang="pt-BR" sz="3200" dirty="0">
                <a:solidFill>
                  <a:schemeClr val="tx1"/>
                </a:solidFill>
              </a:rPr>
              <a:t> surge como uma solução inteligente capaz de auxiliar profissionais na elaboração ágil de planos alimentares e oferecer ao usuário uma consultoria acessível. Utilizando Lógica </a:t>
            </a:r>
            <a:r>
              <a:rPr lang="pt-BR" sz="3200" dirty="0" err="1">
                <a:solidFill>
                  <a:schemeClr val="tx1"/>
                </a:solidFill>
              </a:rPr>
              <a:t>Fuzzy</a:t>
            </a:r>
            <a:r>
              <a:rPr lang="pt-BR" sz="3200" dirty="0">
                <a:solidFill>
                  <a:schemeClr val="tx1"/>
                </a:solidFill>
              </a:rPr>
              <a:t> e Algoritmos Genéticos, o sistema interpreta informações subjetivas e gera cardápios realistas e equilibrados, buscando entregar uma solução transparente e interpretável, capaz de apoiar tanto profissionais quanto usuários, inclui usabilidade por meio de um </a:t>
            </a:r>
            <a:r>
              <a:rPr lang="pt-BR" sz="3200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no WhatsApp, facilitando o acesso, a escalabilidade e a interação direta com o sistema. O projeto foi desenvolvido por estudantes de Engenharia da Computação, com apoio técnico da graduanda em Nutrição, Isadora Bitencourt.</a:t>
            </a:r>
          </a:p>
          <a:p>
            <a:pPr algn="just"/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METODOLOGIA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O modelo utiliza como base de dados uma versão estruturada da TACO em CSV, na qual cada alimento é representado como um objeto com ID, nome, macronutrientes por 100g, preço e </a:t>
            </a:r>
            <a:r>
              <a:rPr lang="pt-BR" sz="3200" dirty="0" err="1">
                <a:solidFill>
                  <a:schemeClr val="tx1"/>
                </a:solidFill>
              </a:rPr>
              <a:t>tags</a:t>
            </a:r>
            <a:r>
              <a:rPr lang="pt-BR" sz="3200" dirty="0">
                <a:solidFill>
                  <a:schemeClr val="tx1"/>
                </a:solidFill>
              </a:rPr>
              <a:t> nutricionais. Esses dados alimentam o módulo de Lógica </a:t>
            </a:r>
            <a:r>
              <a:rPr lang="pt-BR" sz="3200" dirty="0" err="1">
                <a:solidFill>
                  <a:schemeClr val="tx1"/>
                </a:solidFill>
              </a:rPr>
              <a:t>Fuzzy</a:t>
            </a:r>
            <a:r>
              <a:rPr lang="pt-BR" sz="3200" dirty="0">
                <a:solidFill>
                  <a:schemeClr val="tx1"/>
                </a:solidFill>
              </a:rPr>
              <a:t>, que recebe como entradas: objetivo, nível de atividade física, colesterol e peso corporal. As funções de pertinência são triangulares e definidas para cada variável de entrada e para as saídas de carboidratos, proteínas e gorduras, sendo a </a:t>
            </a:r>
            <a:r>
              <a:rPr lang="pt-BR" sz="3200" dirty="0" err="1">
                <a:solidFill>
                  <a:schemeClr val="tx1"/>
                </a:solidFill>
              </a:rPr>
              <a:t>defuzzificação</a:t>
            </a:r>
            <a:r>
              <a:rPr lang="pt-BR" sz="3200" dirty="0">
                <a:solidFill>
                  <a:schemeClr val="tx1"/>
                </a:solidFill>
              </a:rPr>
              <a:t> realizada pelo método do </a:t>
            </a:r>
            <a:r>
              <a:rPr lang="pt-BR" sz="3200" dirty="0" err="1">
                <a:solidFill>
                  <a:schemeClr val="tx1"/>
                </a:solidFill>
              </a:rPr>
              <a:t>centróide</a:t>
            </a:r>
            <a:r>
              <a:rPr lang="pt-BR" sz="3200" dirty="0">
                <a:solidFill>
                  <a:schemeClr val="tx1"/>
                </a:solidFill>
              </a:rPr>
              <a:t>. Para um indivíduo com objetivo </a:t>
            </a:r>
            <a:r>
              <a:rPr lang="pt-BR" sz="3200" dirty="0" err="1">
                <a:solidFill>
                  <a:schemeClr val="tx1"/>
                </a:solidFill>
              </a:rPr>
              <a:t>bulking</a:t>
            </a:r>
            <a:r>
              <a:rPr lang="pt-BR" sz="3200" dirty="0">
                <a:solidFill>
                  <a:schemeClr val="tx1"/>
                </a:solidFill>
              </a:rPr>
              <a:t>, atividade pesada, colesterol 100 e 77,7 kg, o sistema </a:t>
            </a:r>
            <a:r>
              <a:rPr lang="pt-BR" sz="3200" dirty="0" err="1">
                <a:solidFill>
                  <a:schemeClr val="tx1"/>
                </a:solidFill>
              </a:rPr>
              <a:t>fuzzy</a:t>
            </a:r>
            <a:r>
              <a:rPr lang="pt-BR" sz="3200" dirty="0">
                <a:solidFill>
                  <a:schemeClr val="tx1"/>
                </a:solidFill>
              </a:rPr>
              <a:t> gerou, por exemplo, 393 g de carboidratos, 155 g de proteínas e 85 g de gorduras.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Essas metas alimentam o Algoritmo Genético, que recebe como entrada os targets de macronutrientes e a base de alimentos, e devolve como saída um cardápio completo. A função de fitness incorpora penalidades para excesso de proteína, refeições sem carboidrato ou sem fonte proteica, porções irreais e violação de restrições alimentares. O core </a:t>
            </a:r>
            <a:r>
              <a:rPr lang="pt-BR" sz="3200" dirty="0" err="1">
                <a:solidFill>
                  <a:schemeClr val="tx1"/>
                </a:solidFill>
              </a:rPr>
              <a:t>engine</a:t>
            </a:r>
            <a:r>
              <a:rPr lang="pt-BR" sz="3200" dirty="0">
                <a:solidFill>
                  <a:schemeClr val="tx1"/>
                </a:solidFill>
              </a:rPr>
              <a:t> organiza todo o fluxo: recebe os resultados </a:t>
            </a:r>
            <a:r>
              <a:rPr lang="pt-BR" sz="3200" dirty="0" err="1">
                <a:solidFill>
                  <a:schemeClr val="tx1"/>
                </a:solidFill>
              </a:rPr>
              <a:t>fuzzy</a:t>
            </a:r>
            <a:r>
              <a:rPr lang="pt-BR" sz="3200" dirty="0">
                <a:solidFill>
                  <a:schemeClr val="tx1"/>
                </a:solidFill>
              </a:rPr>
              <a:t>, calcula o Valor Energético Total (VET), prepara os parâmetros do AG, gera o cardápio, rotula a dieta (hipocalórica, </a:t>
            </a:r>
            <a:r>
              <a:rPr lang="pt-BR" sz="3200" dirty="0" err="1">
                <a:solidFill>
                  <a:schemeClr val="tx1"/>
                </a:solidFill>
              </a:rPr>
              <a:t>normocalórica</a:t>
            </a:r>
            <a:r>
              <a:rPr lang="pt-BR" sz="3200" dirty="0">
                <a:solidFill>
                  <a:schemeClr val="tx1"/>
                </a:solidFill>
              </a:rPr>
              <a:t> ou hipercalórica) e aplica regras condicionais (</a:t>
            </a:r>
            <a:r>
              <a:rPr lang="pt-BR" sz="3200" dirty="0" err="1">
                <a:solidFill>
                  <a:schemeClr val="tx1"/>
                </a:solidFill>
              </a:rPr>
              <a:t>if</a:t>
            </a:r>
            <a:r>
              <a:rPr lang="pt-BR" sz="3200" dirty="0">
                <a:solidFill>
                  <a:schemeClr val="tx1"/>
                </a:solidFill>
              </a:rPr>
              <a:t>/</a:t>
            </a:r>
            <a:r>
              <a:rPr lang="pt-BR" sz="3200" dirty="0" err="1">
                <a:solidFill>
                  <a:schemeClr val="tx1"/>
                </a:solidFill>
              </a:rPr>
              <a:t>else</a:t>
            </a:r>
            <a:r>
              <a:rPr lang="pt-BR" sz="3200" dirty="0">
                <a:solidFill>
                  <a:schemeClr val="tx1"/>
                </a:solidFill>
              </a:rPr>
              <a:t>) para ajustar penalidades e limites.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>Foram realizados 20 testes para ajuste do modelo, dos quais 15 cardápios foram revisados pela graduanda em Nutrição para estimar a acurácia das recomendações. As principais bibliotecas utilizadas incluem </a:t>
            </a:r>
            <a:r>
              <a:rPr lang="pt-BR" sz="3200" dirty="0" err="1">
                <a:solidFill>
                  <a:schemeClr val="tx1"/>
                </a:solidFill>
              </a:rPr>
              <a:t>dataclasses</a:t>
            </a:r>
            <a:r>
              <a:rPr lang="pt-BR" sz="3200" dirty="0">
                <a:solidFill>
                  <a:schemeClr val="tx1"/>
                </a:solidFill>
              </a:rPr>
              <a:t>, </a:t>
            </a:r>
            <a:r>
              <a:rPr lang="pt-BR" sz="3200" dirty="0" err="1">
                <a:solidFill>
                  <a:schemeClr val="tx1"/>
                </a:solidFill>
              </a:rPr>
              <a:t>typing</a:t>
            </a:r>
            <a:r>
              <a:rPr lang="pt-BR" sz="3200" dirty="0">
                <a:solidFill>
                  <a:schemeClr val="tx1"/>
                </a:solidFill>
              </a:rPr>
              <a:t>, </a:t>
            </a:r>
            <a:r>
              <a:rPr lang="pt-BR" sz="3200" dirty="0" err="1">
                <a:solidFill>
                  <a:schemeClr val="tx1"/>
                </a:solidFill>
              </a:rPr>
              <a:t>csv</a:t>
            </a:r>
            <a:r>
              <a:rPr lang="pt-BR" sz="3200" dirty="0">
                <a:solidFill>
                  <a:schemeClr val="tx1"/>
                </a:solidFill>
              </a:rPr>
              <a:t>, </a:t>
            </a:r>
            <a:r>
              <a:rPr lang="pt-BR" sz="3200" dirty="0" err="1">
                <a:solidFill>
                  <a:schemeClr val="tx1"/>
                </a:solidFill>
              </a:rPr>
              <a:t>random</a:t>
            </a:r>
            <a:r>
              <a:rPr lang="pt-BR" sz="3200" dirty="0">
                <a:solidFill>
                  <a:schemeClr val="tx1"/>
                </a:solidFill>
              </a:rPr>
              <a:t>, os, </a:t>
            </a:r>
            <a:r>
              <a:rPr lang="pt-BR" sz="3200" dirty="0" err="1">
                <a:solidFill>
                  <a:schemeClr val="tx1"/>
                </a:solidFill>
              </a:rPr>
              <a:t>numpy</a:t>
            </a:r>
            <a:r>
              <a:rPr lang="pt-BR" sz="3200" dirty="0">
                <a:solidFill>
                  <a:schemeClr val="tx1"/>
                </a:solidFill>
              </a:rPr>
              <a:t>, pandas, </a:t>
            </a:r>
            <a:r>
              <a:rPr lang="pt-BR" sz="3200" dirty="0" err="1">
                <a:solidFill>
                  <a:schemeClr val="tx1"/>
                </a:solidFill>
              </a:rPr>
              <a:t>matplotlib</a:t>
            </a:r>
            <a:r>
              <a:rPr lang="pt-BR" sz="3200" dirty="0">
                <a:solidFill>
                  <a:schemeClr val="tx1"/>
                </a:solidFill>
              </a:rPr>
              <a:t>, </a:t>
            </a:r>
            <a:r>
              <a:rPr lang="pt-BR" sz="3200" dirty="0" err="1">
                <a:solidFill>
                  <a:schemeClr val="tx1"/>
                </a:solidFill>
              </a:rPr>
              <a:t>scikit-fuzzy</a:t>
            </a:r>
            <a:r>
              <a:rPr lang="pt-BR" sz="3200" dirty="0">
                <a:solidFill>
                  <a:schemeClr val="tx1"/>
                </a:solidFill>
              </a:rPr>
              <a:t>, </a:t>
            </a:r>
            <a:r>
              <a:rPr lang="pt-BR" sz="3200" dirty="0" err="1">
                <a:solidFill>
                  <a:schemeClr val="tx1"/>
                </a:solidFill>
              </a:rPr>
              <a:t>control</a:t>
            </a:r>
            <a:r>
              <a:rPr lang="pt-BR" sz="3200" dirty="0">
                <a:solidFill>
                  <a:schemeClr val="tx1"/>
                </a:solidFill>
              </a:rPr>
              <a:t> e </a:t>
            </a:r>
            <a:r>
              <a:rPr lang="pt-BR" sz="3200" dirty="0" err="1">
                <a:solidFill>
                  <a:schemeClr val="tx1"/>
                </a:solidFill>
              </a:rPr>
              <a:t>networkx</a:t>
            </a:r>
            <a:r>
              <a:rPr lang="pt-BR" sz="3200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pt-BR" sz="3200" b="1" dirty="0" err="1">
                <a:solidFill>
                  <a:schemeClr val="tx1"/>
                </a:solidFill>
              </a:rPr>
              <a:t>Macrofluxograma</a:t>
            </a:r>
            <a:r>
              <a:rPr lang="pt-BR" sz="3200" b="1" dirty="0">
                <a:solidFill>
                  <a:schemeClr val="tx1"/>
                </a:solidFill>
              </a:rPr>
              <a:t> do sistema:</a:t>
            </a: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/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66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3200" b="1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Para o desenvolvimento do projeto utilizando técnicas de Inteligência Artificial, a lógica </a:t>
            </a:r>
            <a:r>
              <a:rPr lang="pt-BR" sz="3200" dirty="0" err="1">
                <a:solidFill>
                  <a:schemeClr val="tx1"/>
                </a:solidFill>
              </a:rPr>
              <a:t>Fuzzy</a:t>
            </a:r>
            <a:r>
              <a:rPr lang="pt-BR" sz="3200" dirty="0">
                <a:solidFill>
                  <a:schemeClr val="tx1"/>
                </a:solidFill>
              </a:rPr>
              <a:t> foi aplicada para interpretar informações subjetivas e transformá-las em parâmetros de macronutrientes, conforme imagens 1 e 2; as funções de pertinência triangulares permitiram melhor graduação entre as categorias, enquanto o método de </a:t>
            </a:r>
            <a:r>
              <a:rPr lang="pt-BR" sz="3200" dirty="0" err="1">
                <a:solidFill>
                  <a:schemeClr val="tx1"/>
                </a:solidFill>
              </a:rPr>
              <a:t>defuzzificação</a:t>
            </a:r>
            <a:r>
              <a:rPr lang="pt-BR" sz="3200" dirty="0">
                <a:solidFill>
                  <a:schemeClr val="tx1"/>
                </a:solidFill>
              </a:rPr>
              <a:t> </a:t>
            </a:r>
            <a:r>
              <a:rPr lang="pt-BR" sz="3200" dirty="0" err="1">
                <a:solidFill>
                  <a:schemeClr val="tx1"/>
                </a:solidFill>
              </a:rPr>
              <a:t>centróide</a:t>
            </a:r>
            <a:r>
              <a:rPr lang="pt-BR" sz="3200" dirty="0">
                <a:solidFill>
                  <a:schemeClr val="tx1"/>
                </a:solidFill>
              </a:rPr>
              <a:t> foi escolhido por gerar saídas estáveis e equilibradas para definir os macronutrientes. Por sua vez, o Algoritmo Genético utiliza essas saídas para avaliar custo e gerar cardápios possíveis, seleciona os melhores, realiza o crossover e aplica mutações para gerar diversidade, trazendo um cardápio otimizado e viável ao final do processo. O core </a:t>
            </a:r>
            <a:r>
              <a:rPr lang="pt-BR" sz="3200" dirty="0" err="1">
                <a:solidFill>
                  <a:schemeClr val="tx1"/>
                </a:solidFill>
              </a:rPr>
              <a:t>engine</a:t>
            </a:r>
            <a:r>
              <a:rPr lang="pt-BR" sz="3200" dirty="0">
                <a:solidFill>
                  <a:schemeClr val="tx1"/>
                </a:solidFill>
              </a:rPr>
              <a:t> é responsável por organizar e integrar a solução ao </a:t>
            </a:r>
            <a:r>
              <a:rPr lang="pt-BR" sz="3200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e APIs externas, acessível ao usuário.</a:t>
            </a:r>
            <a:endParaRPr lang="pt-BR" sz="66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66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66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6600" b="1" dirty="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131192" y="7489132"/>
            <a:ext cx="15576604" cy="31755528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3200" dirty="0"/>
              <a:t>A aplicação dos testes do projeto foi realizada após o desenvolvimento de um </a:t>
            </a:r>
            <a:r>
              <a:rPr lang="pt-BR" sz="3200" dirty="0" err="1"/>
              <a:t>chatbot</a:t>
            </a:r>
            <a:r>
              <a:rPr lang="pt-BR" sz="3200" dirty="0"/>
              <a:t> utilizando Python integrado as APIs do Whatsapp e OpenAI para processamento de linguagem. Dos 15 cardápios analisados, o nível de efetividade técnica alcançado foi de 82%, considerando acurácia das restrições (conforme inputs dos usuários) e harmonia do cardápio (avaliada pela estudante de Nutrição). A percepção da profissional de Nutrição e inferência do gráfico da Imagem 3  indicam que ainda existem oportunidades de melhoria principalmente quanto à harmonia e individualidade dos  cardápios, bem como considerações de localidade dos indivíduos (cardápios adaptados ao Brasil por exemplo).</a:t>
            </a:r>
          </a:p>
          <a:p>
            <a:pPr algn="just">
              <a:spcBef>
                <a:spcPts val="0"/>
              </a:spcBef>
            </a:pPr>
            <a:endParaRPr lang="pt-BR" sz="3200" dirty="0"/>
          </a:p>
          <a:p>
            <a:r>
              <a:rPr lang="pt-BR" sz="4400" b="1" dirty="0"/>
              <a:t>Imagem 1 – Gráficos de entradas </a:t>
            </a:r>
            <a:r>
              <a:rPr lang="pt-BR" sz="4400" b="1" dirty="0" err="1"/>
              <a:t>Fuzzy</a:t>
            </a:r>
            <a:endParaRPr lang="pt-BR" sz="4400" b="1" dirty="0"/>
          </a:p>
          <a:p>
            <a:endParaRPr lang="pt-BR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br>
              <a:rPr lang="pt-BR" sz="4400" b="1" dirty="0"/>
            </a:br>
            <a:r>
              <a:rPr lang="pt-BR" sz="4400" b="1" dirty="0"/>
              <a:t>Imagem 2 – Gráficos de saídas </a:t>
            </a:r>
            <a:r>
              <a:rPr lang="pt-BR" sz="4400" b="1" dirty="0" err="1"/>
              <a:t>Fuzzy</a:t>
            </a:r>
            <a:endParaRPr lang="pt-BR" sz="4400" b="1" dirty="0"/>
          </a:p>
          <a:p>
            <a:endParaRPr lang="pt-BR" sz="4400" b="1" dirty="0"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r>
              <a:rPr lang="pt-BR" sz="4400" b="1" dirty="0"/>
              <a:t>Imagens – Funcionamento do </a:t>
            </a:r>
            <a:r>
              <a:rPr lang="pt-BR" sz="4400" b="1" dirty="0" err="1"/>
              <a:t>Chatbot</a:t>
            </a:r>
            <a:r>
              <a:rPr lang="pt-BR" sz="4400" b="1" dirty="0"/>
              <a:t> (EXCLUIR)</a:t>
            </a: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/>
            <a:r>
              <a:rPr lang="pt-BR" sz="4400" b="1" dirty="0"/>
              <a:t>Imagem 3 – Gráfico de Efetividade do Projeto</a:t>
            </a:r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/>
            <a:endParaRPr lang="pt-BR" sz="44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r>
              <a:rPr lang="pt-BR" sz="6600" b="1" dirty="0"/>
              <a:t>CONCLUSÃO</a:t>
            </a:r>
            <a:endParaRPr lang="pt-BR" sz="9600" dirty="0"/>
          </a:p>
          <a:p>
            <a:pPr algn="just"/>
            <a:r>
              <a:rPr lang="pt-BR" sz="3200" dirty="0"/>
              <a:t>Durante o desenvolvimento do projeto, a equipe conseguiu concluir os objetivos traçados: obter ao menos 80% de acurácia técnica, interpretar dados subjetivos, aplicar duas técnicas de IA distintas, demonstrar interface acessível e escalável. Dentre os desafios enfrentados, a lógica do Algoritmo Genético não considerava alimentos adequados para as refeições no contexto sociocultural, e nem grupos alimentares corretamente dentre as restrições (exemplo: vegetais, porco). Dentre os benefícios, a solução demonstra alta acurácia e potencial de apoio aos hábitos alimentares saudáveis. Segundo percepção geral da graduanda em Nutrição - O </a:t>
            </a:r>
            <a:r>
              <a:rPr lang="pt-BR" sz="3200" dirty="0" err="1"/>
              <a:t>chatbot</a:t>
            </a:r>
            <a:r>
              <a:rPr lang="pt-BR" sz="3200" dirty="0"/>
              <a:t> é uma boa ferramenta para quem tem interesse em conhecer e começar uma alimentação saudável, e também para incentivar essa prática; as limitações incluem a não consideração de individualidades e rotina das pessoas, e por isso </a:t>
            </a:r>
            <a:r>
              <a:rPr lang="pt-BR" sz="3200" b="1" dirty="0"/>
              <a:t>não substitui um nutricionista.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821743" y="38177868"/>
            <a:ext cx="30429954" cy="4334754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THEODORE ARMAND, Tagne </a:t>
            </a:r>
            <a:r>
              <a:rPr lang="en-US" sz="3200" dirty="0" err="1">
                <a:solidFill>
                  <a:schemeClr val="tx1"/>
                </a:solidFill>
              </a:rPr>
              <a:t>Poupi</a:t>
            </a:r>
            <a:r>
              <a:rPr lang="en-US" sz="3200" dirty="0">
                <a:solidFill>
                  <a:schemeClr val="tx1"/>
                </a:solidFill>
              </a:rPr>
              <a:t> et al. Applications of artificial intelligence, machine learning, and deep learning in nutrition: A systematic review. Nutrients, v. 16, n. 7, p. 1073, 2024.</a:t>
            </a: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es-ES" sz="3200" dirty="0">
                <a:solidFill>
                  <a:schemeClr val="tx1"/>
                </a:solidFill>
              </a:rPr>
              <a:t>MEZA PINEDO, Brik Henrry et al. </a:t>
            </a:r>
            <a:r>
              <a:rPr lang="es-ES" sz="3200" dirty="0" err="1">
                <a:solidFill>
                  <a:schemeClr val="tx1"/>
                </a:solidFill>
              </a:rPr>
              <a:t>Chatbot</a:t>
            </a:r>
            <a:r>
              <a:rPr lang="es-ES" sz="3200" dirty="0">
                <a:solidFill>
                  <a:schemeClr val="tx1"/>
                </a:solidFill>
              </a:rPr>
              <a:t> en fase beta para promoción de la salud nutricional y prevención de enfermedades crónicas: estudio de usabilidad en mayores de 40 años sin diagnóstico de enfermedad. Reporte de resultados de investigación 05-2025. 2025.</a:t>
            </a:r>
            <a:endParaRPr lang="pt-BR" sz="3200" dirty="0">
              <a:solidFill>
                <a:schemeClr val="tx1"/>
              </a:solidFill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E26A80FF-9FFA-124C-15AD-90FA76552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5887" y="12994639"/>
            <a:ext cx="5852172" cy="4389129"/>
          </a:xfrm>
          <a:prstGeom prst="rect">
            <a:avLst/>
          </a:prstGeom>
        </p:spPr>
      </p:pic>
      <p:pic>
        <p:nvPicPr>
          <p:cNvPr id="12" name="Imagem 1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D7660D30-788D-36B1-690A-7C6F439DA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089" y="13037107"/>
            <a:ext cx="5852172" cy="4389129"/>
          </a:xfrm>
          <a:prstGeom prst="rect">
            <a:avLst/>
          </a:prstGeom>
        </p:spPr>
      </p:pic>
      <p:pic>
        <p:nvPicPr>
          <p:cNvPr id="16" name="Imagem 1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D5C66DE2-830E-A41E-8D6F-D211F3E517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1818" y="13037107"/>
            <a:ext cx="5852172" cy="4389129"/>
          </a:xfrm>
          <a:prstGeom prst="rect">
            <a:avLst/>
          </a:prstGeom>
        </p:spPr>
      </p:pic>
      <p:pic>
        <p:nvPicPr>
          <p:cNvPr id="19" name="Imagem 18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A60E0C5F-01A7-F40D-CAE5-5EA93BF9FC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5887" y="18650372"/>
            <a:ext cx="5852172" cy="4389129"/>
          </a:xfrm>
          <a:prstGeom prst="rect">
            <a:avLst/>
          </a:prstGeom>
        </p:spPr>
      </p:pic>
      <p:pic>
        <p:nvPicPr>
          <p:cNvPr id="21" name="Imagem 20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CAEF4EAC-3CF9-20E4-9760-B7EEB75946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089" y="18650372"/>
            <a:ext cx="5852172" cy="4389129"/>
          </a:xfrm>
          <a:prstGeom prst="rect">
            <a:avLst/>
          </a:prstGeom>
        </p:spPr>
      </p:pic>
      <p:pic>
        <p:nvPicPr>
          <p:cNvPr id="23" name="Imagem 22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B9DFE362-BC2D-76CF-F00A-D46B00ACC1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1818" y="18692840"/>
            <a:ext cx="5852172" cy="438912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CD17E8D-8418-3346-D5F2-7D3E2FD380F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418" r="37248"/>
          <a:stretch>
            <a:fillRect/>
          </a:stretch>
        </p:blipFill>
        <p:spPr>
          <a:xfrm>
            <a:off x="936329" y="27075308"/>
            <a:ext cx="14277200" cy="4896544"/>
          </a:xfrm>
          <a:prstGeom prst="rect">
            <a:avLst/>
          </a:prstGeom>
        </p:spPr>
      </p:pic>
      <p:pic>
        <p:nvPicPr>
          <p:cNvPr id="10" name="Imagem 9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A5FA3E07-F863-CEC4-6EBE-B5D5EE8C7B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" t="13840" r="1825" b="13504"/>
          <a:stretch>
            <a:fillRect/>
          </a:stretch>
        </p:blipFill>
        <p:spPr>
          <a:xfrm>
            <a:off x="16224498" y="24627037"/>
            <a:ext cx="13681520" cy="6408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982</Words>
  <Application>Microsoft Office PowerPoint</Application>
  <PresentationFormat>Personalizar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NUTRIBOT IA  Edu Guerreiro; Eric Lelis; Guilherme Almeida; Laís Viana; Sinval Luz; Adailton Cerqueira.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Laís Viana</cp:lastModifiedBy>
  <cp:revision>163</cp:revision>
  <dcterms:created xsi:type="dcterms:W3CDTF">2011-04-07T11:05:01Z</dcterms:created>
  <dcterms:modified xsi:type="dcterms:W3CDTF">2025-11-21T01:49:09Z</dcterms:modified>
</cp:coreProperties>
</file>